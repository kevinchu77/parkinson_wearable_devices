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5" r:id="rId7"/>
    <p:sldId id="267" r:id="rId8"/>
    <p:sldId id="261" r:id="rId9"/>
    <p:sldId id="266" r:id="rId10"/>
    <p:sldId id="262" r:id="rId11"/>
    <p:sldId id="268" r:id="rId12"/>
    <p:sldId id="269" r:id="rId13"/>
    <p:sldId id="270" r:id="rId14"/>
    <p:sldId id="272" r:id="rId15"/>
    <p:sldId id="27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D310-7431-4437-A49C-AA8AAD7B4B4C}"/>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962C1992-9D62-41EB-B2E0-794E8D7182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75CFD234-5613-4793-9DA5-181A62BADB8C}"/>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D14AA2F5-CFCC-4349-9D8B-A7DE4228D87A}"/>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C14BE8C-E503-41EF-AF0E-4BF9D3C30218}"/>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05349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F737-FF6C-45AB-8288-332C62CDE32E}"/>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235E7AD-2AA9-4B86-8AE4-21E2A7CBE543}"/>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70303F5-A428-4FEE-9130-2B70DFD62027}"/>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9DF653AF-6D0F-4A92-B968-4F7B331D8CE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BB3D5BA-FC06-4F25-807E-D833C746BC9A}"/>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369954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A5F4-4C25-4AF5-8DFF-F4A3F2830E51}"/>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E822E965-E10D-4CA5-9568-71B1CDA335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A4B75405-D714-4EDE-A508-F0A94AEC0DD7}"/>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0B158B23-050A-45C6-A59A-A321366046C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4FD097D-EB1E-402A-BF3D-0E882BA01C11}"/>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200338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F7422-A1F9-4A17-8274-65DC86F44A4A}"/>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2E3625D-2337-46EA-81BD-BB6AD328C6D9}"/>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9F763D97-1E3B-4642-BC11-C2A56CAF836B}"/>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E911DBC7-E5AE-4FB3-A880-DFAF3445251B}"/>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6" name="Footer Placeholder 5">
            <a:extLst>
              <a:ext uri="{FF2B5EF4-FFF2-40B4-BE49-F238E27FC236}">
                <a16:creationId xmlns:a16="http://schemas.microsoft.com/office/drawing/2014/main" id="{9E2CF3C3-9F32-4E10-AB89-D172E113854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7F2873B-DCEB-4541-8B8E-D6999E1F0ECD}"/>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130960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28229-245A-4C60-A7CD-14184879CDB7}"/>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1E8E40F-A70B-4C1A-B1EF-C1A4DC6A7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E3474D0D-C77A-4E79-97BE-C47749BB6CF5}"/>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EDB5B65D-761C-42D3-A63A-98DB4028BB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19903FE4-7A61-4293-8947-430DC8B3C758}"/>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BCE8C9C3-A7FA-4C53-AF7A-6A06165CE540}"/>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8" name="Footer Placeholder 7">
            <a:extLst>
              <a:ext uri="{FF2B5EF4-FFF2-40B4-BE49-F238E27FC236}">
                <a16:creationId xmlns:a16="http://schemas.microsoft.com/office/drawing/2014/main" id="{2138A236-9492-40D2-97D6-4EB8968224F2}"/>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962CBBB0-860A-4CFC-B9AC-543CC6932114}"/>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76863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6D38D-0129-4D2B-9C32-A7ECECDCE561}"/>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06CD652E-031E-4623-9DA1-6021DAF98C5F}"/>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4" name="Footer Placeholder 3">
            <a:extLst>
              <a:ext uri="{FF2B5EF4-FFF2-40B4-BE49-F238E27FC236}">
                <a16:creationId xmlns:a16="http://schemas.microsoft.com/office/drawing/2014/main" id="{431327A9-46D3-4F35-80AE-21A4E6465C53}"/>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179315F6-4A27-441D-B738-0199D7D58403}"/>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374791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61F0F1-2FDC-47C8-899E-0E0652D3E07E}"/>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3" name="Footer Placeholder 2">
            <a:extLst>
              <a:ext uri="{FF2B5EF4-FFF2-40B4-BE49-F238E27FC236}">
                <a16:creationId xmlns:a16="http://schemas.microsoft.com/office/drawing/2014/main" id="{7FD0CF0B-ADC5-4D24-8FC5-401723DE2F9A}"/>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EC0EBDC2-0078-42B5-8710-428A1996795B}"/>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664661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CD46B-F98E-4CE7-AEAE-61461B3C4FA2}"/>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F789C74-2D8C-4DA1-AA10-B409F89D5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8BA69CFE-3522-4671-8CD1-0FA78DEEB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0676919-10AF-4AF5-89E7-9ADA72C841BB}"/>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6" name="Footer Placeholder 5">
            <a:extLst>
              <a:ext uri="{FF2B5EF4-FFF2-40B4-BE49-F238E27FC236}">
                <a16:creationId xmlns:a16="http://schemas.microsoft.com/office/drawing/2014/main" id="{A8A40608-B8E6-4800-A9CF-E0B93AB0FF7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2B1ED5CD-25C8-4FC0-B079-B6E9747C5C80}"/>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796095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1EA50-ABA0-4E19-9C46-CC911DAC4FC2}"/>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F2ED4415-013A-4120-8971-3F6F64040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2ED80BF4-FA36-4EE0-981F-165AB125C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5D61178C-4186-489B-946E-4CCAF6722143}"/>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6" name="Footer Placeholder 5">
            <a:extLst>
              <a:ext uri="{FF2B5EF4-FFF2-40B4-BE49-F238E27FC236}">
                <a16:creationId xmlns:a16="http://schemas.microsoft.com/office/drawing/2014/main" id="{1D88560F-5955-438B-8100-1A6B73554FC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7ACD8F2-C170-491A-BD84-FD56BDB50C71}"/>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306769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FFD2D-F07C-49D2-B8B2-E263B47C7F71}"/>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3A5D54C5-41CC-4F91-A535-AC7417AE671A}"/>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AE2E137-035F-409A-8A0E-1B9D25DD2797}"/>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2855DA00-1BB4-4C1B-BC8E-33BA46EE457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69C8982-C820-4ABF-BE53-6790037F6FD5}"/>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1000477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AD5D9-4D9B-472D-8600-472249DB33CA}"/>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27A33D65-4766-4DC4-A876-43D4A2889E8E}"/>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0587382C-0598-472A-989D-73762AEEC6CC}"/>
              </a:ext>
            </a:extLst>
          </p:cNvPr>
          <p:cNvSpPr>
            <a:spLocks noGrp="1"/>
          </p:cNvSpPr>
          <p:nvPr>
            <p:ph type="dt" sz="half" idx="10"/>
          </p:nvPr>
        </p:nvSpPr>
        <p:spPr/>
        <p:txBody>
          <a:body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EAA31C62-7077-4EE3-8EEC-6F3880268B5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20C7C29-A711-462B-93DC-CD2C83FB4376}"/>
              </a:ext>
            </a:extLst>
          </p:cNvPr>
          <p:cNvSpPr>
            <a:spLocks noGrp="1"/>
          </p:cNvSpPr>
          <p:nvPr>
            <p:ph type="sldNum" sz="quarter" idx="12"/>
          </p:nvPr>
        </p:nvSpPr>
        <p:spPr/>
        <p:txBody>
          <a:body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283798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1A1246-E410-4871-9478-FC9646A1AF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30F751D-B987-477F-9360-F0F713C7FF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740654F-3068-4063-B92A-E487827BBC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AA191-388C-4960-958A-71F015F85CC4}" type="datetimeFigureOut">
              <a:rPr lang="zh-CN" altLang="en-US" smtClean="0"/>
              <a:t>2025/1/2</a:t>
            </a:fld>
            <a:endParaRPr lang="zh-CN" altLang="en-US"/>
          </a:p>
        </p:txBody>
      </p:sp>
      <p:sp>
        <p:nvSpPr>
          <p:cNvPr id="5" name="Footer Placeholder 4">
            <a:extLst>
              <a:ext uri="{FF2B5EF4-FFF2-40B4-BE49-F238E27FC236}">
                <a16:creationId xmlns:a16="http://schemas.microsoft.com/office/drawing/2014/main" id="{319515ED-9C04-44BC-A939-F62A466EC1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8AC90F20-128A-48CD-A4C2-07C2340D92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70224-73B5-4C5F-9B56-E579AFC1571B}" type="slidenum">
              <a:rPr lang="zh-CN" altLang="en-US" smtClean="0"/>
              <a:t>‹#›</a:t>
            </a:fld>
            <a:endParaRPr lang="zh-CN" altLang="en-US"/>
          </a:p>
        </p:txBody>
      </p:sp>
    </p:spTree>
    <p:extLst>
      <p:ext uri="{BB962C8B-B14F-4D97-AF65-F5344CB8AC3E}">
        <p14:creationId xmlns:p14="http://schemas.microsoft.com/office/powerpoint/2010/main" val="1916427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hingspeak.mathwor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icrochip.ua/wireless/esp01.pdf" TargetMode="External"/><Relationship Id="rId2" Type="http://schemas.openxmlformats.org/officeDocument/2006/relationships/hyperlink" Target="https://docs.ai-thinker.com/_media/esp8266/docs/esp-01_product_specification_en.pdf" TargetMode="External"/><Relationship Id="rId1" Type="http://schemas.openxmlformats.org/officeDocument/2006/relationships/slideLayout" Target="../slideLayouts/slideLayout1.xml"/><Relationship Id="rId4" Type="http://schemas.openxmlformats.org/officeDocument/2006/relationships/hyperlink" Target="https://hshop.vn/mach-thu-phat-wifi-esp8266-v1"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nvensense.tdk.com/wp-content/uploads/2015/02/MPU-6000-Register-Map1.pdf" TargetMode="External"/><Relationship Id="rId2" Type="http://schemas.openxmlformats.org/officeDocument/2006/relationships/hyperlink" Target="https://invensense.tdk.com/wp-content/uploads/2015/02/MPU-6000-Datasheet1.pdf"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jp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3C82-F7E5-4E13-A7BB-072041DB2A73}"/>
              </a:ext>
            </a:extLst>
          </p:cNvPr>
          <p:cNvSpPr>
            <a:spLocks noGrp="1"/>
          </p:cNvSpPr>
          <p:nvPr>
            <p:ph type="ctrTitle"/>
          </p:nvPr>
        </p:nvSpPr>
        <p:spPr>
          <a:xfrm>
            <a:off x="1524000" y="2139885"/>
            <a:ext cx="9144000" cy="1370078"/>
          </a:xfrm>
        </p:spPr>
        <p:txBody>
          <a:bodyPr/>
          <a:lstStyle/>
          <a:p>
            <a:r>
              <a:rPr lang="en-US" altLang="zh-CN"/>
              <a:t>1. Send data to cloud</a:t>
            </a:r>
            <a:endParaRPr lang="zh-CN" altLang="en-US"/>
          </a:p>
        </p:txBody>
      </p:sp>
      <p:sp>
        <p:nvSpPr>
          <p:cNvPr id="3" name="Subtitle 2">
            <a:extLst>
              <a:ext uri="{FF2B5EF4-FFF2-40B4-BE49-F238E27FC236}">
                <a16:creationId xmlns:a16="http://schemas.microsoft.com/office/drawing/2014/main" id="{E743E53C-30BC-415D-95F3-670C6299F9C2}"/>
              </a:ext>
            </a:extLst>
          </p:cNvPr>
          <p:cNvSpPr>
            <a:spLocks noGrp="1"/>
          </p:cNvSpPr>
          <p:nvPr>
            <p:ph type="subTitle" idx="1"/>
          </p:nvPr>
        </p:nvSpPr>
        <p:spPr/>
        <p:txBody>
          <a:bodyPr/>
          <a:lstStyle/>
          <a:p>
            <a:r>
              <a:rPr lang="en-US" altLang="zh-CN"/>
              <a:t>Sever: </a:t>
            </a:r>
            <a:r>
              <a:rPr lang="en-US" altLang="zh-CN">
                <a:hlinkClick r:id="rId2"/>
              </a:rPr>
              <a:t>https://thingspeak.mathworks.com</a:t>
            </a:r>
            <a:r>
              <a:rPr lang="en-US" altLang="zh-CN"/>
              <a:t> </a:t>
            </a:r>
            <a:endParaRPr lang="zh-CN" altLang="en-US"/>
          </a:p>
          <a:p>
            <a:endParaRPr lang="zh-CN" altLang="en-US"/>
          </a:p>
        </p:txBody>
      </p:sp>
    </p:spTree>
    <p:extLst>
      <p:ext uri="{BB962C8B-B14F-4D97-AF65-F5344CB8AC3E}">
        <p14:creationId xmlns:p14="http://schemas.microsoft.com/office/powerpoint/2010/main" val="4111093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70A95-ED34-4968-825D-CE840E602B11}"/>
              </a:ext>
            </a:extLst>
          </p:cNvPr>
          <p:cNvSpPr>
            <a:spLocks noGrp="1"/>
          </p:cNvSpPr>
          <p:nvPr>
            <p:ph type="title"/>
          </p:nvPr>
        </p:nvSpPr>
        <p:spPr/>
        <p:txBody>
          <a:bodyPr/>
          <a:lstStyle/>
          <a:p>
            <a:r>
              <a:rPr lang="en-US" altLang="zh-CN"/>
              <a:t>1.1. Create channel</a:t>
            </a:r>
            <a:endParaRPr lang="zh-CN" altLang="en-US"/>
          </a:p>
        </p:txBody>
      </p:sp>
      <p:pic>
        <p:nvPicPr>
          <p:cNvPr id="4" name="Content Placeholder 3">
            <a:extLst>
              <a:ext uri="{FF2B5EF4-FFF2-40B4-BE49-F238E27FC236}">
                <a16:creationId xmlns:a16="http://schemas.microsoft.com/office/drawing/2014/main" id="{918497B1-FFCF-4CAA-9846-13358011E14A}"/>
              </a:ext>
            </a:extLst>
          </p:cNvPr>
          <p:cNvPicPr>
            <a:picLocks noGrp="1" noChangeAspect="1"/>
          </p:cNvPicPr>
          <p:nvPr>
            <p:ph idx="1"/>
          </p:nvPr>
        </p:nvPicPr>
        <p:blipFill>
          <a:blip r:embed="rId2"/>
          <a:stretch>
            <a:fillRect/>
          </a:stretch>
        </p:blipFill>
        <p:spPr>
          <a:xfrm>
            <a:off x="1155489" y="1486261"/>
            <a:ext cx="5692301" cy="2689813"/>
          </a:xfrm>
          <a:prstGeom prst="rect">
            <a:avLst/>
          </a:prstGeom>
        </p:spPr>
      </p:pic>
      <p:sp>
        <p:nvSpPr>
          <p:cNvPr id="5" name="TextBox 4">
            <a:extLst>
              <a:ext uri="{FF2B5EF4-FFF2-40B4-BE49-F238E27FC236}">
                <a16:creationId xmlns:a16="http://schemas.microsoft.com/office/drawing/2014/main" id="{29D6FDEE-6397-484A-B652-2B94113A574D}"/>
              </a:ext>
            </a:extLst>
          </p:cNvPr>
          <p:cNvSpPr txBox="1"/>
          <p:nvPr/>
        </p:nvSpPr>
        <p:spPr>
          <a:xfrm>
            <a:off x="1833900" y="4503746"/>
            <a:ext cx="3200216" cy="646331"/>
          </a:xfrm>
          <a:prstGeom prst="rect">
            <a:avLst/>
          </a:prstGeom>
          <a:noFill/>
        </p:spPr>
        <p:txBody>
          <a:bodyPr wrap="square" rtlCol="0">
            <a:spAutoFit/>
          </a:bodyPr>
          <a:lstStyle/>
          <a:p>
            <a:pPr marL="342900" indent="-342900">
              <a:buAutoNum type="arabicPeriod"/>
            </a:pPr>
            <a:r>
              <a:rPr lang="en-US" altLang="zh-CN"/>
              <a:t>Sign up a free account</a:t>
            </a:r>
          </a:p>
          <a:p>
            <a:pPr marL="342900" indent="-342900">
              <a:buAutoNum type="arabicPeriod"/>
            </a:pPr>
            <a:r>
              <a:rPr lang="en-US" altLang="zh-CN"/>
              <a:t>Create new channel</a:t>
            </a:r>
            <a:endParaRPr lang="zh-CN" altLang="en-US"/>
          </a:p>
        </p:txBody>
      </p:sp>
      <p:pic>
        <p:nvPicPr>
          <p:cNvPr id="6" name="Picture 5">
            <a:extLst>
              <a:ext uri="{FF2B5EF4-FFF2-40B4-BE49-F238E27FC236}">
                <a16:creationId xmlns:a16="http://schemas.microsoft.com/office/drawing/2014/main" id="{23ABA969-DC94-4872-A08D-22EE68205500}"/>
              </a:ext>
            </a:extLst>
          </p:cNvPr>
          <p:cNvPicPr>
            <a:picLocks noChangeAspect="1"/>
          </p:cNvPicPr>
          <p:nvPr/>
        </p:nvPicPr>
        <p:blipFill>
          <a:blip r:embed="rId3"/>
          <a:stretch>
            <a:fillRect/>
          </a:stretch>
        </p:blipFill>
        <p:spPr>
          <a:xfrm>
            <a:off x="7334235" y="1001127"/>
            <a:ext cx="3702276" cy="3780689"/>
          </a:xfrm>
          <a:prstGeom prst="rect">
            <a:avLst/>
          </a:prstGeom>
        </p:spPr>
      </p:pic>
      <p:sp>
        <p:nvSpPr>
          <p:cNvPr id="7" name="Rectangle 6">
            <a:extLst>
              <a:ext uri="{FF2B5EF4-FFF2-40B4-BE49-F238E27FC236}">
                <a16:creationId xmlns:a16="http://schemas.microsoft.com/office/drawing/2014/main" id="{7A403C9E-1CBE-4EDD-B822-F8F0AECC9EB8}"/>
              </a:ext>
            </a:extLst>
          </p:cNvPr>
          <p:cNvSpPr/>
          <p:nvPr/>
        </p:nvSpPr>
        <p:spPr>
          <a:xfrm>
            <a:off x="8132900" y="1978205"/>
            <a:ext cx="2225200" cy="252554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a:extLst>
              <a:ext uri="{FF2B5EF4-FFF2-40B4-BE49-F238E27FC236}">
                <a16:creationId xmlns:a16="http://schemas.microsoft.com/office/drawing/2014/main" id="{49BB7664-C2FF-4418-8085-6E4D69D6BE75}"/>
              </a:ext>
            </a:extLst>
          </p:cNvPr>
          <p:cNvSpPr txBox="1"/>
          <p:nvPr/>
        </p:nvSpPr>
        <p:spPr>
          <a:xfrm>
            <a:off x="7687087" y="5048486"/>
            <a:ext cx="3116825" cy="646331"/>
          </a:xfrm>
          <a:prstGeom prst="rect">
            <a:avLst/>
          </a:prstGeom>
          <a:noFill/>
        </p:spPr>
        <p:txBody>
          <a:bodyPr wrap="square" rtlCol="0">
            <a:spAutoFit/>
          </a:bodyPr>
          <a:lstStyle/>
          <a:p>
            <a:r>
              <a:rPr lang="en-US" altLang="zh-CN"/>
              <a:t>The number of variables send to channel for free account</a:t>
            </a:r>
            <a:endParaRPr lang="zh-CN" altLang="en-US"/>
          </a:p>
        </p:txBody>
      </p:sp>
    </p:spTree>
    <p:extLst>
      <p:ext uri="{BB962C8B-B14F-4D97-AF65-F5344CB8AC3E}">
        <p14:creationId xmlns:p14="http://schemas.microsoft.com/office/powerpoint/2010/main" val="360561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B9231-C844-4FAB-A1CC-1FE213436DEC}"/>
              </a:ext>
            </a:extLst>
          </p:cNvPr>
          <p:cNvSpPr>
            <a:spLocks noGrp="1"/>
          </p:cNvSpPr>
          <p:nvPr>
            <p:ph type="title"/>
          </p:nvPr>
        </p:nvSpPr>
        <p:spPr/>
        <p:txBody>
          <a:bodyPr/>
          <a:lstStyle/>
          <a:p>
            <a:r>
              <a:rPr lang="en-US" altLang="zh-CN"/>
              <a:t>1.2. APIS KEY</a:t>
            </a:r>
            <a:endParaRPr lang="zh-CN" altLang="en-US"/>
          </a:p>
        </p:txBody>
      </p:sp>
      <p:pic>
        <p:nvPicPr>
          <p:cNvPr id="4" name="Content Placeholder 3">
            <a:extLst>
              <a:ext uri="{FF2B5EF4-FFF2-40B4-BE49-F238E27FC236}">
                <a16:creationId xmlns:a16="http://schemas.microsoft.com/office/drawing/2014/main" id="{88840335-D4AD-442E-935A-AD8E154B021E}"/>
              </a:ext>
            </a:extLst>
          </p:cNvPr>
          <p:cNvPicPr>
            <a:picLocks noGrp="1" noChangeAspect="1"/>
          </p:cNvPicPr>
          <p:nvPr>
            <p:ph idx="1"/>
          </p:nvPr>
        </p:nvPicPr>
        <p:blipFill>
          <a:blip r:embed="rId2"/>
          <a:stretch>
            <a:fillRect/>
          </a:stretch>
        </p:blipFill>
        <p:spPr>
          <a:xfrm>
            <a:off x="548859" y="1560154"/>
            <a:ext cx="7181042" cy="4351338"/>
          </a:xfrm>
          <a:prstGeom prst="rect">
            <a:avLst/>
          </a:prstGeom>
        </p:spPr>
      </p:pic>
      <p:sp>
        <p:nvSpPr>
          <p:cNvPr id="6" name="Rectangle 5">
            <a:extLst>
              <a:ext uri="{FF2B5EF4-FFF2-40B4-BE49-F238E27FC236}">
                <a16:creationId xmlns:a16="http://schemas.microsoft.com/office/drawing/2014/main" id="{FDFA9B35-F4B1-4BBE-8CC6-1CB3C1BE5645}"/>
              </a:ext>
            </a:extLst>
          </p:cNvPr>
          <p:cNvSpPr/>
          <p:nvPr/>
        </p:nvSpPr>
        <p:spPr>
          <a:xfrm>
            <a:off x="4229493" y="4513006"/>
            <a:ext cx="2898894" cy="40369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8FDD47D9-1644-4F33-8BEC-4A23DC9F7061}"/>
              </a:ext>
            </a:extLst>
          </p:cNvPr>
          <p:cNvSpPr/>
          <p:nvPr/>
        </p:nvSpPr>
        <p:spPr>
          <a:xfrm>
            <a:off x="1206074" y="3025306"/>
            <a:ext cx="2225200" cy="40369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a:extLst>
              <a:ext uri="{FF2B5EF4-FFF2-40B4-BE49-F238E27FC236}">
                <a16:creationId xmlns:a16="http://schemas.microsoft.com/office/drawing/2014/main" id="{A0784925-FAC4-4624-860C-BBE1C3AFD3B9}"/>
              </a:ext>
            </a:extLst>
          </p:cNvPr>
          <p:cNvSpPr txBox="1"/>
          <p:nvPr/>
        </p:nvSpPr>
        <p:spPr>
          <a:xfrm>
            <a:off x="5270090" y="1894451"/>
            <a:ext cx="6373051" cy="369332"/>
          </a:xfrm>
          <a:prstGeom prst="rect">
            <a:avLst/>
          </a:prstGeom>
          <a:noFill/>
        </p:spPr>
        <p:txBody>
          <a:bodyPr wrap="square" rtlCol="0">
            <a:spAutoFit/>
          </a:bodyPr>
          <a:lstStyle/>
          <a:p>
            <a:r>
              <a:rPr lang="en-US" altLang="zh-CN"/>
              <a:t>API key like a address to write, read or update data to channel</a:t>
            </a:r>
          </a:p>
        </p:txBody>
      </p:sp>
      <p:sp>
        <p:nvSpPr>
          <p:cNvPr id="9" name="Rectangle 8">
            <a:extLst>
              <a:ext uri="{FF2B5EF4-FFF2-40B4-BE49-F238E27FC236}">
                <a16:creationId xmlns:a16="http://schemas.microsoft.com/office/drawing/2014/main" id="{5638A760-5F96-4392-9CA6-81BAE8759E63}"/>
              </a:ext>
            </a:extLst>
          </p:cNvPr>
          <p:cNvSpPr/>
          <p:nvPr/>
        </p:nvSpPr>
        <p:spPr>
          <a:xfrm>
            <a:off x="1043842" y="4109312"/>
            <a:ext cx="2225200" cy="40369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7215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039FC-29FD-4A89-9E40-1A13C2D10433}"/>
              </a:ext>
            </a:extLst>
          </p:cNvPr>
          <p:cNvSpPr>
            <a:spLocks noGrp="1"/>
          </p:cNvSpPr>
          <p:nvPr>
            <p:ph type="title"/>
          </p:nvPr>
        </p:nvSpPr>
        <p:spPr/>
        <p:txBody>
          <a:bodyPr/>
          <a:lstStyle/>
          <a:p>
            <a:r>
              <a:rPr lang="en-US" altLang="zh-CN"/>
              <a:t>1.3. Interface to observe data</a:t>
            </a:r>
            <a:endParaRPr lang="zh-CN" altLang="en-US"/>
          </a:p>
        </p:txBody>
      </p:sp>
      <p:pic>
        <p:nvPicPr>
          <p:cNvPr id="4" name="Content Placeholder 3">
            <a:extLst>
              <a:ext uri="{FF2B5EF4-FFF2-40B4-BE49-F238E27FC236}">
                <a16:creationId xmlns:a16="http://schemas.microsoft.com/office/drawing/2014/main" id="{6E72B9B1-6D48-44BF-9E57-749AE5C62DE4}"/>
              </a:ext>
            </a:extLst>
          </p:cNvPr>
          <p:cNvPicPr>
            <a:picLocks noGrp="1" noChangeAspect="1"/>
          </p:cNvPicPr>
          <p:nvPr>
            <p:ph idx="1"/>
          </p:nvPr>
        </p:nvPicPr>
        <p:blipFill>
          <a:blip r:embed="rId2"/>
          <a:stretch>
            <a:fillRect/>
          </a:stretch>
        </p:blipFill>
        <p:spPr>
          <a:xfrm>
            <a:off x="828369" y="1914116"/>
            <a:ext cx="4490883" cy="2479510"/>
          </a:xfrm>
          <a:prstGeom prst="rect">
            <a:avLst/>
          </a:prstGeom>
        </p:spPr>
      </p:pic>
      <p:pic>
        <p:nvPicPr>
          <p:cNvPr id="7" name="Picture 6">
            <a:extLst>
              <a:ext uri="{FF2B5EF4-FFF2-40B4-BE49-F238E27FC236}">
                <a16:creationId xmlns:a16="http://schemas.microsoft.com/office/drawing/2014/main" id="{C8FB861B-4E5B-4732-9DF7-FFFE0313F09C}"/>
              </a:ext>
            </a:extLst>
          </p:cNvPr>
          <p:cNvPicPr>
            <a:picLocks noChangeAspect="1"/>
          </p:cNvPicPr>
          <p:nvPr/>
        </p:nvPicPr>
        <p:blipFill>
          <a:blip r:embed="rId3"/>
          <a:stretch>
            <a:fillRect/>
          </a:stretch>
        </p:blipFill>
        <p:spPr>
          <a:xfrm>
            <a:off x="5830529" y="2084225"/>
            <a:ext cx="5827650" cy="3475916"/>
          </a:xfrm>
          <a:prstGeom prst="rect">
            <a:avLst/>
          </a:prstGeom>
        </p:spPr>
      </p:pic>
      <p:sp>
        <p:nvSpPr>
          <p:cNvPr id="8" name="Arrow: Right 7">
            <a:extLst>
              <a:ext uri="{FF2B5EF4-FFF2-40B4-BE49-F238E27FC236}">
                <a16:creationId xmlns:a16="http://schemas.microsoft.com/office/drawing/2014/main" id="{4F813BA1-D0EF-4F77-B753-29B0CEEB48F9}"/>
              </a:ext>
            </a:extLst>
          </p:cNvPr>
          <p:cNvSpPr/>
          <p:nvPr/>
        </p:nvSpPr>
        <p:spPr>
          <a:xfrm>
            <a:off x="5476568" y="3677265"/>
            <a:ext cx="422787" cy="4031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a:extLst>
              <a:ext uri="{FF2B5EF4-FFF2-40B4-BE49-F238E27FC236}">
                <a16:creationId xmlns:a16="http://schemas.microsoft.com/office/drawing/2014/main" id="{ABC7652C-8C43-4C8F-861A-6FFA8F8397EE}"/>
              </a:ext>
            </a:extLst>
          </p:cNvPr>
          <p:cNvSpPr txBox="1"/>
          <p:nvPr/>
        </p:nvSpPr>
        <p:spPr>
          <a:xfrm>
            <a:off x="1288025" y="4913810"/>
            <a:ext cx="3854245" cy="646331"/>
          </a:xfrm>
          <a:prstGeom prst="rect">
            <a:avLst/>
          </a:prstGeom>
          <a:noFill/>
        </p:spPr>
        <p:txBody>
          <a:bodyPr wrap="square" rtlCol="0">
            <a:spAutoFit/>
          </a:bodyPr>
          <a:lstStyle/>
          <a:p>
            <a:r>
              <a:rPr lang="en-US" altLang="zh-CN"/>
              <a:t>The data will be presented on graphs. One graph one field (variable)</a:t>
            </a:r>
            <a:endParaRPr lang="zh-CN" altLang="en-US"/>
          </a:p>
        </p:txBody>
      </p:sp>
    </p:spTree>
    <p:extLst>
      <p:ext uri="{BB962C8B-B14F-4D97-AF65-F5344CB8AC3E}">
        <p14:creationId xmlns:p14="http://schemas.microsoft.com/office/powerpoint/2010/main" val="321978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1D58-95FF-4EA5-A870-6AB109EF4E42}"/>
              </a:ext>
            </a:extLst>
          </p:cNvPr>
          <p:cNvSpPr>
            <a:spLocks noGrp="1"/>
          </p:cNvSpPr>
          <p:nvPr>
            <p:ph type="title"/>
          </p:nvPr>
        </p:nvSpPr>
        <p:spPr/>
        <p:txBody>
          <a:bodyPr/>
          <a:lstStyle/>
          <a:p>
            <a:r>
              <a:rPr lang="en-US" altLang="zh-CN"/>
              <a:t>1.4. Limition time collect data</a:t>
            </a:r>
            <a:endParaRPr lang="zh-CN" altLang="en-US"/>
          </a:p>
        </p:txBody>
      </p:sp>
      <p:pic>
        <p:nvPicPr>
          <p:cNvPr id="4" name="Content Placeholder 3">
            <a:extLst>
              <a:ext uri="{FF2B5EF4-FFF2-40B4-BE49-F238E27FC236}">
                <a16:creationId xmlns:a16="http://schemas.microsoft.com/office/drawing/2014/main" id="{0BF578B1-1723-4F59-8B59-035EA0EAACEF}"/>
              </a:ext>
            </a:extLst>
          </p:cNvPr>
          <p:cNvPicPr>
            <a:picLocks noGrp="1" noChangeAspect="1"/>
          </p:cNvPicPr>
          <p:nvPr>
            <p:ph idx="1"/>
          </p:nvPr>
        </p:nvPicPr>
        <p:blipFill>
          <a:blip r:embed="rId2"/>
          <a:stretch>
            <a:fillRect/>
          </a:stretch>
        </p:blipFill>
        <p:spPr>
          <a:xfrm>
            <a:off x="1497182" y="1690688"/>
            <a:ext cx="6404422" cy="3995072"/>
          </a:xfrm>
          <a:prstGeom prst="rect">
            <a:avLst/>
          </a:prstGeom>
        </p:spPr>
      </p:pic>
      <p:sp>
        <p:nvSpPr>
          <p:cNvPr id="5" name="Rectangle 4">
            <a:extLst>
              <a:ext uri="{FF2B5EF4-FFF2-40B4-BE49-F238E27FC236}">
                <a16:creationId xmlns:a16="http://schemas.microsoft.com/office/drawing/2014/main" id="{6E115599-8FE3-44A0-96BF-37F68CBCFB01}"/>
              </a:ext>
            </a:extLst>
          </p:cNvPr>
          <p:cNvSpPr/>
          <p:nvPr/>
        </p:nvSpPr>
        <p:spPr>
          <a:xfrm>
            <a:off x="2468880" y="3368040"/>
            <a:ext cx="4823460" cy="29718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a:extLst>
              <a:ext uri="{FF2B5EF4-FFF2-40B4-BE49-F238E27FC236}">
                <a16:creationId xmlns:a16="http://schemas.microsoft.com/office/drawing/2014/main" id="{2959B6A0-EDC3-4C34-AF22-6218E015B902}"/>
              </a:ext>
            </a:extLst>
          </p:cNvPr>
          <p:cNvSpPr txBox="1"/>
          <p:nvPr/>
        </p:nvSpPr>
        <p:spPr>
          <a:xfrm>
            <a:off x="2225040" y="6116320"/>
            <a:ext cx="7477760" cy="369332"/>
          </a:xfrm>
          <a:prstGeom prst="rect">
            <a:avLst/>
          </a:prstGeom>
          <a:noFill/>
        </p:spPr>
        <p:txBody>
          <a:bodyPr wrap="square" rtlCol="0">
            <a:spAutoFit/>
          </a:bodyPr>
          <a:lstStyle/>
          <a:p>
            <a:r>
              <a:rPr lang="en-US" altLang="zh-CN"/>
              <a:t>Free account only updates data per 15 seconds</a:t>
            </a:r>
            <a:endParaRPr lang="zh-CN" altLang="en-US"/>
          </a:p>
        </p:txBody>
      </p:sp>
    </p:spTree>
    <p:extLst>
      <p:ext uri="{BB962C8B-B14F-4D97-AF65-F5344CB8AC3E}">
        <p14:creationId xmlns:p14="http://schemas.microsoft.com/office/powerpoint/2010/main" val="2895834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1D58-95FF-4EA5-A870-6AB109EF4E42}"/>
              </a:ext>
            </a:extLst>
          </p:cNvPr>
          <p:cNvSpPr>
            <a:spLocks noGrp="1"/>
          </p:cNvSpPr>
          <p:nvPr>
            <p:ph type="title"/>
          </p:nvPr>
        </p:nvSpPr>
        <p:spPr/>
        <p:txBody>
          <a:bodyPr/>
          <a:lstStyle/>
          <a:p>
            <a:r>
              <a:rPr lang="en-US" altLang="zh-CN"/>
              <a:t>1.4. Limition time collect data</a:t>
            </a:r>
            <a:endParaRPr lang="zh-CN" altLang="en-US"/>
          </a:p>
        </p:txBody>
      </p:sp>
      <p:pic>
        <p:nvPicPr>
          <p:cNvPr id="9" name="Picture 8">
            <a:extLst>
              <a:ext uri="{FF2B5EF4-FFF2-40B4-BE49-F238E27FC236}">
                <a16:creationId xmlns:a16="http://schemas.microsoft.com/office/drawing/2014/main" id="{E060A77B-F37A-40F6-A183-E5B3BDCF23A9}"/>
              </a:ext>
            </a:extLst>
          </p:cNvPr>
          <p:cNvPicPr>
            <a:picLocks noChangeAspect="1"/>
          </p:cNvPicPr>
          <p:nvPr/>
        </p:nvPicPr>
        <p:blipFill>
          <a:blip r:embed="rId2"/>
          <a:stretch>
            <a:fillRect/>
          </a:stretch>
        </p:blipFill>
        <p:spPr>
          <a:xfrm>
            <a:off x="8498305" y="1729787"/>
            <a:ext cx="3144949" cy="2213836"/>
          </a:xfrm>
          <a:prstGeom prst="rect">
            <a:avLst/>
          </a:prstGeom>
        </p:spPr>
      </p:pic>
      <p:pic>
        <p:nvPicPr>
          <p:cNvPr id="10" name="Picture 9">
            <a:extLst>
              <a:ext uri="{FF2B5EF4-FFF2-40B4-BE49-F238E27FC236}">
                <a16:creationId xmlns:a16="http://schemas.microsoft.com/office/drawing/2014/main" id="{0B21D88A-7395-4EA8-A8E1-77FAD53F5DA8}"/>
              </a:ext>
            </a:extLst>
          </p:cNvPr>
          <p:cNvPicPr>
            <a:picLocks noChangeAspect="1"/>
          </p:cNvPicPr>
          <p:nvPr/>
        </p:nvPicPr>
        <p:blipFill>
          <a:blip r:embed="rId3"/>
          <a:stretch>
            <a:fillRect/>
          </a:stretch>
        </p:blipFill>
        <p:spPr>
          <a:xfrm>
            <a:off x="4582308" y="1800907"/>
            <a:ext cx="3229034" cy="2214000"/>
          </a:xfrm>
          <a:prstGeom prst="rect">
            <a:avLst/>
          </a:prstGeom>
        </p:spPr>
      </p:pic>
      <p:pic>
        <p:nvPicPr>
          <p:cNvPr id="11" name="Picture 10">
            <a:extLst>
              <a:ext uri="{FF2B5EF4-FFF2-40B4-BE49-F238E27FC236}">
                <a16:creationId xmlns:a16="http://schemas.microsoft.com/office/drawing/2014/main" id="{561DB131-536D-454F-B5BD-E5ADA8332A6A}"/>
              </a:ext>
            </a:extLst>
          </p:cNvPr>
          <p:cNvPicPr>
            <a:picLocks noChangeAspect="1"/>
          </p:cNvPicPr>
          <p:nvPr/>
        </p:nvPicPr>
        <p:blipFill>
          <a:blip r:embed="rId4"/>
          <a:stretch>
            <a:fillRect/>
          </a:stretch>
        </p:blipFill>
        <p:spPr>
          <a:xfrm>
            <a:off x="676176" y="1765265"/>
            <a:ext cx="3219169" cy="2214000"/>
          </a:xfrm>
          <a:prstGeom prst="rect">
            <a:avLst/>
          </a:prstGeom>
        </p:spPr>
      </p:pic>
      <p:sp>
        <p:nvSpPr>
          <p:cNvPr id="12" name="TextBox 11">
            <a:extLst>
              <a:ext uri="{FF2B5EF4-FFF2-40B4-BE49-F238E27FC236}">
                <a16:creationId xmlns:a16="http://schemas.microsoft.com/office/drawing/2014/main" id="{C5180382-B0CB-43AF-96C2-9C55CE34BA2E}"/>
              </a:ext>
            </a:extLst>
          </p:cNvPr>
          <p:cNvSpPr txBox="1"/>
          <p:nvPr/>
        </p:nvSpPr>
        <p:spPr>
          <a:xfrm>
            <a:off x="924560" y="4531360"/>
            <a:ext cx="9093200" cy="369332"/>
          </a:xfrm>
          <a:prstGeom prst="rect">
            <a:avLst/>
          </a:prstGeom>
          <a:noFill/>
        </p:spPr>
        <p:txBody>
          <a:bodyPr wrap="square" rtlCol="0">
            <a:spAutoFit/>
          </a:bodyPr>
          <a:lstStyle/>
          <a:p>
            <a:r>
              <a:rPr lang="en-US" altLang="zh-CN"/>
              <a:t>With three last  samples, average time update data 16s</a:t>
            </a:r>
            <a:endParaRPr lang="zh-CN" altLang="en-US"/>
          </a:p>
        </p:txBody>
      </p:sp>
    </p:spTree>
    <p:extLst>
      <p:ext uri="{BB962C8B-B14F-4D97-AF65-F5344CB8AC3E}">
        <p14:creationId xmlns:p14="http://schemas.microsoft.com/office/powerpoint/2010/main" val="2709013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BD9CCE-BF31-45FB-8966-ACF5523FE6F5}"/>
              </a:ext>
            </a:extLst>
          </p:cNvPr>
          <p:cNvSpPr>
            <a:spLocks noGrp="1"/>
          </p:cNvSpPr>
          <p:nvPr>
            <p:ph type="title"/>
          </p:nvPr>
        </p:nvSpPr>
        <p:spPr>
          <a:xfrm>
            <a:off x="838200" y="365125"/>
            <a:ext cx="10515600" cy="1325563"/>
          </a:xfrm>
        </p:spPr>
        <p:txBody>
          <a:bodyPr/>
          <a:lstStyle/>
          <a:p>
            <a:r>
              <a:rPr lang="en-US" altLang="zh-CN"/>
              <a:t>1.4. Limition time collect data</a:t>
            </a:r>
            <a:endParaRPr lang="zh-CN" altLang="en-US"/>
          </a:p>
        </p:txBody>
      </p:sp>
      <p:pic>
        <p:nvPicPr>
          <p:cNvPr id="9" name="Picture 8">
            <a:extLst>
              <a:ext uri="{FF2B5EF4-FFF2-40B4-BE49-F238E27FC236}">
                <a16:creationId xmlns:a16="http://schemas.microsoft.com/office/drawing/2014/main" id="{DCFBBB59-F2E0-4EFE-8264-E46E83D656DA}"/>
              </a:ext>
            </a:extLst>
          </p:cNvPr>
          <p:cNvPicPr>
            <a:picLocks noChangeAspect="1"/>
          </p:cNvPicPr>
          <p:nvPr/>
        </p:nvPicPr>
        <p:blipFill>
          <a:blip r:embed="rId2"/>
          <a:stretch>
            <a:fillRect/>
          </a:stretch>
        </p:blipFill>
        <p:spPr>
          <a:xfrm>
            <a:off x="502921" y="1482455"/>
            <a:ext cx="8094600" cy="4176665"/>
          </a:xfrm>
          <a:prstGeom prst="rect">
            <a:avLst/>
          </a:prstGeom>
        </p:spPr>
      </p:pic>
      <p:sp>
        <p:nvSpPr>
          <p:cNvPr id="10" name="TextBox 9">
            <a:extLst>
              <a:ext uri="{FF2B5EF4-FFF2-40B4-BE49-F238E27FC236}">
                <a16:creationId xmlns:a16="http://schemas.microsoft.com/office/drawing/2014/main" id="{DA47F9F6-A601-493C-9694-9F48C59E17ED}"/>
              </a:ext>
            </a:extLst>
          </p:cNvPr>
          <p:cNvSpPr txBox="1"/>
          <p:nvPr/>
        </p:nvSpPr>
        <p:spPr>
          <a:xfrm>
            <a:off x="8966199" y="1690688"/>
            <a:ext cx="2722880" cy="2031325"/>
          </a:xfrm>
          <a:prstGeom prst="rect">
            <a:avLst/>
          </a:prstGeom>
          <a:noFill/>
        </p:spPr>
        <p:txBody>
          <a:bodyPr wrap="square" rtlCol="0">
            <a:spAutoFit/>
          </a:bodyPr>
          <a:lstStyle/>
          <a:p>
            <a:r>
              <a:rPr lang="en-US" altLang="zh-CN">
                <a:solidFill>
                  <a:srgbClr val="FF0000"/>
                </a:solidFill>
              </a:rPr>
              <a:t>Conclusion: </a:t>
            </a:r>
            <a:r>
              <a:rPr lang="en-US" altLang="zh-CN"/>
              <a:t>This is the limit of receiving data of Thingspeak but still does not meet the condition of measuring the maximum frequency for the patient which is 20Hz.</a:t>
            </a:r>
            <a:endParaRPr lang="zh-CN" altLang="en-US"/>
          </a:p>
        </p:txBody>
      </p:sp>
    </p:spTree>
    <p:extLst>
      <p:ext uri="{BB962C8B-B14F-4D97-AF65-F5344CB8AC3E}">
        <p14:creationId xmlns:p14="http://schemas.microsoft.com/office/powerpoint/2010/main" val="1488894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3C82-F7E5-4E13-A7BB-072041DB2A73}"/>
              </a:ext>
            </a:extLst>
          </p:cNvPr>
          <p:cNvSpPr>
            <a:spLocks noGrp="1"/>
          </p:cNvSpPr>
          <p:nvPr>
            <p:ph type="ctrTitle"/>
          </p:nvPr>
        </p:nvSpPr>
        <p:spPr>
          <a:xfrm>
            <a:off x="1524000" y="2139885"/>
            <a:ext cx="9144000" cy="1370078"/>
          </a:xfrm>
        </p:spPr>
        <p:txBody>
          <a:bodyPr>
            <a:normAutofit fontScale="90000"/>
          </a:bodyPr>
          <a:lstStyle/>
          <a:p>
            <a:r>
              <a:rPr lang="en-US" altLang="zh-CN"/>
              <a:t>2. Module Wifi ESP8266 UART ESP-01S Ai-Thinker </a:t>
            </a:r>
            <a:endParaRPr lang="zh-CN" altLang="en-US"/>
          </a:p>
        </p:txBody>
      </p:sp>
      <p:sp>
        <p:nvSpPr>
          <p:cNvPr id="3" name="Subtitle 2">
            <a:extLst>
              <a:ext uri="{FF2B5EF4-FFF2-40B4-BE49-F238E27FC236}">
                <a16:creationId xmlns:a16="http://schemas.microsoft.com/office/drawing/2014/main" id="{E743E53C-30BC-415D-95F3-670C6299F9C2}"/>
              </a:ext>
            </a:extLst>
          </p:cNvPr>
          <p:cNvSpPr>
            <a:spLocks noGrp="1"/>
          </p:cNvSpPr>
          <p:nvPr>
            <p:ph type="subTitle" idx="1"/>
          </p:nvPr>
        </p:nvSpPr>
        <p:spPr/>
        <p:txBody>
          <a:bodyPr/>
          <a:lstStyle/>
          <a:p>
            <a:r>
              <a:rPr lang="en-US" altLang="zh-CN"/>
              <a:t>Basicly, this module is used to connect to wifi and send data to sever.</a:t>
            </a:r>
            <a:endParaRPr lang="zh-CN" altLang="en-US"/>
          </a:p>
        </p:txBody>
      </p:sp>
      <p:sp>
        <p:nvSpPr>
          <p:cNvPr id="4" name="TextBox 3">
            <a:extLst>
              <a:ext uri="{FF2B5EF4-FFF2-40B4-BE49-F238E27FC236}">
                <a16:creationId xmlns:a16="http://schemas.microsoft.com/office/drawing/2014/main" id="{2A66C5CD-995E-4B2B-A63B-C0D1474428AC}"/>
              </a:ext>
            </a:extLst>
          </p:cNvPr>
          <p:cNvSpPr txBox="1"/>
          <p:nvPr/>
        </p:nvSpPr>
        <p:spPr>
          <a:xfrm>
            <a:off x="1150375" y="5771536"/>
            <a:ext cx="10205884" cy="923330"/>
          </a:xfrm>
          <a:prstGeom prst="rect">
            <a:avLst/>
          </a:prstGeom>
          <a:noFill/>
        </p:spPr>
        <p:txBody>
          <a:bodyPr wrap="square" rtlCol="0">
            <a:spAutoFit/>
          </a:bodyPr>
          <a:lstStyle/>
          <a:p>
            <a:r>
              <a:rPr lang="en-US" altLang="zh-CN"/>
              <a:t>Reference: </a:t>
            </a:r>
            <a:r>
              <a:rPr lang="en-US" altLang="zh-CN">
                <a:hlinkClick r:id="rId2"/>
              </a:rPr>
              <a:t>https://docs.ai-thinker.com/_media/esp8266/docs/esp-01_product_specification_en.pdf</a:t>
            </a:r>
            <a:endParaRPr lang="en-US" altLang="zh-CN"/>
          </a:p>
          <a:p>
            <a:r>
              <a:rPr lang="en-US" altLang="zh-CN">
                <a:hlinkClick r:id="rId3"/>
              </a:rPr>
              <a:t>https://www.microchip.ua/wireless/esp01.pdf</a:t>
            </a:r>
            <a:r>
              <a:rPr lang="zh-CN" altLang="en-US"/>
              <a:t> </a:t>
            </a:r>
            <a:endParaRPr lang="en-US" altLang="zh-CN"/>
          </a:p>
          <a:p>
            <a:r>
              <a:rPr lang="en-US" altLang="zh-CN">
                <a:hlinkClick r:id="rId4"/>
              </a:rPr>
              <a:t>https://hshop.vn/mach-thu-phat-wifi-esp8266-v1</a:t>
            </a:r>
            <a:r>
              <a:rPr lang="en-US" altLang="zh-CN"/>
              <a:t> </a:t>
            </a:r>
          </a:p>
        </p:txBody>
      </p:sp>
    </p:spTree>
    <p:extLst>
      <p:ext uri="{BB962C8B-B14F-4D97-AF65-F5344CB8AC3E}">
        <p14:creationId xmlns:p14="http://schemas.microsoft.com/office/powerpoint/2010/main" val="1647596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FEF5-B68F-4378-9F69-F6A2CDF8E488}"/>
              </a:ext>
            </a:extLst>
          </p:cNvPr>
          <p:cNvSpPr>
            <a:spLocks noGrp="1"/>
          </p:cNvSpPr>
          <p:nvPr>
            <p:ph type="title"/>
          </p:nvPr>
        </p:nvSpPr>
        <p:spPr/>
        <p:txBody>
          <a:bodyPr/>
          <a:lstStyle/>
          <a:p>
            <a:r>
              <a:rPr lang="en-US" altLang="zh-CN"/>
              <a:t>2.1. Hardware</a:t>
            </a:r>
            <a:endParaRPr lang="zh-CN" altLang="en-US"/>
          </a:p>
        </p:txBody>
      </p:sp>
      <p:pic>
        <p:nvPicPr>
          <p:cNvPr id="4" name="Content Placeholder 3">
            <a:extLst>
              <a:ext uri="{FF2B5EF4-FFF2-40B4-BE49-F238E27FC236}">
                <a16:creationId xmlns:a16="http://schemas.microsoft.com/office/drawing/2014/main" id="{741F9A87-6469-4F52-9F76-597BC9843739}"/>
              </a:ext>
            </a:extLst>
          </p:cNvPr>
          <p:cNvPicPr>
            <a:picLocks noGrp="1" noChangeAspect="1"/>
          </p:cNvPicPr>
          <p:nvPr>
            <p:ph idx="1"/>
          </p:nvPr>
        </p:nvPicPr>
        <p:blipFill>
          <a:blip r:embed="rId2"/>
          <a:stretch>
            <a:fillRect/>
          </a:stretch>
        </p:blipFill>
        <p:spPr>
          <a:xfrm>
            <a:off x="838200" y="1690688"/>
            <a:ext cx="4987027" cy="2234624"/>
          </a:xfrm>
          <a:prstGeom prst="rect">
            <a:avLst/>
          </a:prstGeom>
        </p:spPr>
      </p:pic>
      <p:sp>
        <p:nvSpPr>
          <p:cNvPr id="5" name="TextBox 4">
            <a:extLst>
              <a:ext uri="{FF2B5EF4-FFF2-40B4-BE49-F238E27FC236}">
                <a16:creationId xmlns:a16="http://schemas.microsoft.com/office/drawing/2014/main" id="{B3BA246B-549A-4A5B-9471-3D6F9831E3B4}"/>
              </a:ext>
            </a:extLst>
          </p:cNvPr>
          <p:cNvSpPr txBox="1"/>
          <p:nvPr/>
        </p:nvSpPr>
        <p:spPr>
          <a:xfrm>
            <a:off x="6269486" y="731520"/>
            <a:ext cx="5232400" cy="5355312"/>
          </a:xfrm>
          <a:prstGeom prst="rect">
            <a:avLst/>
          </a:prstGeom>
          <a:noFill/>
        </p:spPr>
        <p:txBody>
          <a:bodyPr wrap="square" rtlCol="0">
            <a:spAutoFit/>
          </a:bodyPr>
          <a:lstStyle/>
          <a:p>
            <a:pPr marL="342900" indent="-342900">
              <a:buFont typeface="+mj-lt"/>
              <a:buAutoNum type="arabicPeriod"/>
            </a:pPr>
            <a:r>
              <a:rPr lang="vi-VN" altLang="zh-CN" b="1"/>
              <a:t>VCC: 3.3V , dòng có thể lên 300mA vì thế cần mạch nguồn riêng  ams1117 5V-&gt;3.3V </a:t>
            </a:r>
          </a:p>
          <a:p>
            <a:pPr marL="342900" indent="-342900">
              <a:buFont typeface="+mj-lt"/>
              <a:buAutoNum type="arabicPeriod"/>
            </a:pPr>
            <a:r>
              <a:rPr lang="vi-VN" altLang="zh-CN"/>
              <a:t>GND: 0V</a:t>
            </a:r>
          </a:p>
          <a:p>
            <a:pPr marL="342900" indent="-342900">
              <a:buFont typeface="+mj-lt"/>
              <a:buAutoNum type="arabicPeriod"/>
            </a:pPr>
            <a:r>
              <a:rPr lang="vi-VN" altLang="zh-CN"/>
              <a:t>Tx: Chân Tx của giao thức UART, kết nối đến chân Rx của vi điều khiển.</a:t>
            </a:r>
          </a:p>
          <a:p>
            <a:pPr marL="342900" indent="-342900">
              <a:buFont typeface="+mj-lt"/>
              <a:buAutoNum type="arabicPeriod"/>
            </a:pPr>
            <a:r>
              <a:rPr lang="vi-VN" altLang="zh-CN"/>
              <a:t>Rx: Chân Rx của giao thức UART, kết nối đến chân Tx của vi điều khiển.</a:t>
            </a:r>
          </a:p>
          <a:p>
            <a:pPr marL="342900" indent="-342900">
              <a:buFont typeface="+mj-lt"/>
              <a:buAutoNum type="arabicPeriod"/>
            </a:pPr>
            <a:r>
              <a:rPr lang="vi-VN" altLang="zh-CN"/>
              <a:t>RST:  chân reset, kéo xuống mass để reset.</a:t>
            </a:r>
          </a:p>
          <a:p>
            <a:pPr marL="342900" indent="-342900">
              <a:buFont typeface="+mj-lt"/>
              <a:buAutoNum type="arabicPeriod"/>
            </a:pPr>
            <a:r>
              <a:rPr lang="vi-VN" altLang="zh-CN" b="1"/>
              <a:t>CH_PD: chân này nếu được kéo lên mức cao module sẽ bắt đầu thu phát wifi, kéo xuống mức thấp module dừng phát wifi. Vì ESP8266 khởi động hút dòng lớn nên chúng ta giữ chân này ở mức 0V khi khởi động hệ thống của mình , sau 2 s hãy kéo chân CH_PD lên 3.3V, để đảm bảo module hoạt động ổn định.</a:t>
            </a:r>
          </a:p>
          <a:p>
            <a:pPr marL="342900" indent="-342900">
              <a:buFont typeface="+mj-lt"/>
              <a:buAutoNum type="arabicPeriod"/>
            </a:pPr>
            <a:r>
              <a:rPr lang="vi-VN" altLang="zh-CN"/>
              <a:t>GPIO0: kéo xuống thấp cho chế độ upgrade firmware.</a:t>
            </a:r>
          </a:p>
          <a:p>
            <a:pPr marL="342900" indent="-342900">
              <a:buFont typeface="+mj-lt"/>
              <a:buAutoNum type="arabicPeriod"/>
            </a:pPr>
            <a:r>
              <a:rPr lang="vi-VN" altLang="zh-CN"/>
              <a:t>GPIO2: không sử dụng.</a:t>
            </a:r>
            <a:endParaRPr lang="zh-CN" altLang="en-US"/>
          </a:p>
        </p:txBody>
      </p:sp>
    </p:spTree>
    <p:extLst>
      <p:ext uri="{BB962C8B-B14F-4D97-AF65-F5344CB8AC3E}">
        <p14:creationId xmlns:p14="http://schemas.microsoft.com/office/powerpoint/2010/main" val="196778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F6B91-EDBD-41D2-BA9A-B5BF9AC9EC4B}"/>
              </a:ext>
            </a:extLst>
          </p:cNvPr>
          <p:cNvSpPr>
            <a:spLocks noGrp="1"/>
          </p:cNvSpPr>
          <p:nvPr>
            <p:ph type="title"/>
          </p:nvPr>
        </p:nvSpPr>
        <p:spPr/>
        <p:txBody>
          <a:bodyPr/>
          <a:lstStyle/>
          <a:p>
            <a:r>
              <a:rPr lang="en-US" altLang="zh-CN"/>
              <a:t>2.2. Configuration </a:t>
            </a:r>
            <a:endParaRPr lang="zh-CN" altLang="en-US"/>
          </a:p>
        </p:txBody>
      </p:sp>
      <p:pic>
        <p:nvPicPr>
          <p:cNvPr id="4" name="Content Placeholder 3">
            <a:extLst>
              <a:ext uri="{FF2B5EF4-FFF2-40B4-BE49-F238E27FC236}">
                <a16:creationId xmlns:a16="http://schemas.microsoft.com/office/drawing/2014/main" id="{FB1B51D5-3D4C-478E-A733-CEC28ACE0F07}"/>
              </a:ext>
            </a:extLst>
          </p:cNvPr>
          <p:cNvPicPr>
            <a:picLocks noGrp="1" noChangeAspect="1"/>
          </p:cNvPicPr>
          <p:nvPr>
            <p:ph idx="1"/>
          </p:nvPr>
        </p:nvPicPr>
        <p:blipFill>
          <a:blip r:embed="rId2"/>
          <a:stretch>
            <a:fillRect/>
          </a:stretch>
        </p:blipFill>
        <p:spPr>
          <a:xfrm>
            <a:off x="838200" y="1593618"/>
            <a:ext cx="6580928" cy="3135698"/>
          </a:xfrm>
          <a:prstGeom prst="rect">
            <a:avLst/>
          </a:prstGeom>
        </p:spPr>
      </p:pic>
      <p:sp>
        <p:nvSpPr>
          <p:cNvPr id="5" name="Rectangle 4">
            <a:extLst>
              <a:ext uri="{FF2B5EF4-FFF2-40B4-BE49-F238E27FC236}">
                <a16:creationId xmlns:a16="http://schemas.microsoft.com/office/drawing/2014/main" id="{1AEEBF08-5BAB-4CCC-B34C-715695EBB0DE}"/>
              </a:ext>
            </a:extLst>
          </p:cNvPr>
          <p:cNvSpPr/>
          <p:nvPr/>
        </p:nvSpPr>
        <p:spPr>
          <a:xfrm>
            <a:off x="838200" y="2330245"/>
            <a:ext cx="5745480" cy="142567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2882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3C82-F7E5-4E13-A7BB-072041DB2A73}"/>
              </a:ext>
            </a:extLst>
          </p:cNvPr>
          <p:cNvSpPr>
            <a:spLocks noGrp="1"/>
          </p:cNvSpPr>
          <p:nvPr>
            <p:ph type="ctrTitle"/>
          </p:nvPr>
        </p:nvSpPr>
        <p:spPr>
          <a:xfrm>
            <a:off x="1524000" y="2139885"/>
            <a:ext cx="9144000" cy="1370078"/>
          </a:xfrm>
        </p:spPr>
        <p:txBody>
          <a:bodyPr>
            <a:normAutofit fontScale="90000"/>
          </a:bodyPr>
          <a:lstStyle/>
          <a:p>
            <a:r>
              <a:rPr lang="en-US" altLang="zh-CN"/>
              <a:t>3. Collect data from MPU6050</a:t>
            </a:r>
            <a:endParaRPr lang="zh-CN" altLang="en-US"/>
          </a:p>
        </p:txBody>
      </p:sp>
      <p:sp>
        <p:nvSpPr>
          <p:cNvPr id="3" name="Subtitle 2">
            <a:extLst>
              <a:ext uri="{FF2B5EF4-FFF2-40B4-BE49-F238E27FC236}">
                <a16:creationId xmlns:a16="http://schemas.microsoft.com/office/drawing/2014/main" id="{E743E53C-30BC-415D-95F3-670C6299F9C2}"/>
              </a:ext>
            </a:extLst>
          </p:cNvPr>
          <p:cNvSpPr>
            <a:spLocks noGrp="1"/>
          </p:cNvSpPr>
          <p:nvPr>
            <p:ph type="subTitle" idx="1"/>
          </p:nvPr>
        </p:nvSpPr>
        <p:spPr/>
        <p:txBody>
          <a:bodyPr>
            <a:normAutofit fontScale="92500" lnSpcReduction="20000"/>
          </a:bodyPr>
          <a:lstStyle/>
          <a:p>
            <a:pPr algn="l"/>
            <a:r>
              <a:rPr lang="en-US" altLang="zh-CN"/>
              <a:t>Datasheet:</a:t>
            </a:r>
          </a:p>
          <a:p>
            <a:pPr algn="l"/>
            <a:r>
              <a:rPr lang="en-US" altLang="zh-CN">
                <a:hlinkClick r:id="rId2"/>
              </a:rPr>
              <a:t>https://invensense.tdk.com/wp-content/uploads/2015/02/MPU-6000-Datasheet1.pdf</a:t>
            </a:r>
            <a:r>
              <a:rPr lang="en-US" altLang="zh-CN"/>
              <a:t> </a:t>
            </a:r>
          </a:p>
          <a:p>
            <a:pPr algn="l"/>
            <a:r>
              <a:rPr lang="en-US" altLang="zh-CN">
                <a:hlinkClick r:id="rId3"/>
              </a:rPr>
              <a:t>https://invensense.tdk.com/wp-content/uploads/2015/02/MPU-6000-Register-Map1.pdf</a:t>
            </a:r>
            <a:r>
              <a:rPr lang="en-US" altLang="zh-CN"/>
              <a:t> </a:t>
            </a:r>
          </a:p>
        </p:txBody>
      </p:sp>
    </p:spTree>
    <p:extLst>
      <p:ext uri="{BB962C8B-B14F-4D97-AF65-F5344CB8AC3E}">
        <p14:creationId xmlns:p14="http://schemas.microsoft.com/office/powerpoint/2010/main" val="3613000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D09A-248E-455E-A4AF-34FE14178F1C}"/>
              </a:ext>
            </a:extLst>
          </p:cNvPr>
          <p:cNvSpPr>
            <a:spLocks noGrp="1"/>
          </p:cNvSpPr>
          <p:nvPr>
            <p:ph type="title"/>
          </p:nvPr>
        </p:nvSpPr>
        <p:spPr/>
        <p:txBody>
          <a:bodyPr/>
          <a:lstStyle/>
          <a:p>
            <a:r>
              <a:rPr lang="en-US" altLang="zh-CN"/>
              <a:t>3.1. Acceleration</a:t>
            </a:r>
            <a:endParaRPr lang="zh-CN" altLang="en-US"/>
          </a:p>
        </p:txBody>
      </p:sp>
      <p:pic>
        <p:nvPicPr>
          <p:cNvPr id="7" name="Content Placeholder 6">
            <a:extLst>
              <a:ext uri="{FF2B5EF4-FFF2-40B4-BE49-F238E27FC236}">
                <a16:creationId xmlns:a16="http://schemas.microsoft.com/office/drawing/2014/main" id="{58DA1847-3450-4C60-983A-A2CE7804C4E0}"/>
              </a:ext>
            </a:extLst>
          </p:cNvPr>
          <p:cNvPicPr>
            <a:picLocks noGrp="1" noChangeAspect="1"/>
          </p:cNvPicPr>
          <p:nvPr>
            <p:ph idx="1"/>
          </p:nvPr>
        </p:nvPicPr>
        <p:blipFill>
          <a:blip r:embed="rId2"/>
          <a:stretch>
            <a:fillRect/>
          </a:stretch>
        </p:blipFill>
        <p:spPr>
          <a:xfrm>
            <a:off x="296443" y="1559172"/>
            <a:ext cx="3533600" cy="2520000"/>
          </a:xfrm>
          <a:prstGeom prst="rect">
            <a:avLst/>
          </a:prstGeom>
        </p:spPr>
      </p:pic>
      <p:pic>
        <p:nvPicPr>
          <p:cNvPr id="8" name="Picture 7">
            <a:extLst>
              <a:ext uri="{FF2B5EF4-FFF2-40B4-BE49-F238E27FC236}">
                <a16:creationId xmlns:a16="http://schemas.microsoft.com/office/drawing/2014/main" id="{B3F5FD7F-609A-4ED6-A3DC-09037C4FF693}"/>
              </a:ext>
            </a:extLst>
          </p:cNvPr>
          <p:cNvPicPr>
            <a:picLocks noChangeAspect="1"/>
          </p:cNvPicPr>
          <p:nvPr/>
        </p:nvPicPr>
        <p:blipFill>
          <a:blip r:embed="rId3"/>
          <a:stretch>
            <a:fillRect/>
          </a:stretch>
        </p:blipFill>
        <p:spPr>
          <a:xfrm>
            <a:off x="4207875" y="1633669"/>
            <a:ext cx="3496017" cy="2520000"/>
          </a:xfrm>
          <a:prstGeom prst="rect">
            <a:avLst/>
          </a:prstGeom>
        </p:spPr>
      </p:pic>
      <p:pic>
        <p:nvPicPr>
          <p:cNvPr id="9" name="Picture 8">
            <a:extLst>
              <a:ext uri="{FF2B5EF4-FFF2-40B4-BE49-F238E27FC236}">
                <a16:creationId xmlns:a16="http://schemas.microsoft.com/office/drawing/2014/main" id="{D6FA204C-01AC-4AFC-8E4B-725E26B689C5}"/>
              </a:ext>
            </a:extLst>
          </p:cNvPr>
          <p:cNvPicPr>
            <a:picLocks noChangeAspect="1"/>
          </p:cNvPicPr>
          <p:nvPr/>
        </p:nvPicPr>
        <p:blipFill>
          <a:blip r:embed="rId4"/>
          <a:stretch>
            <a:fillRect/>
          </a:stretch>
        </p:blipFill>
        <p:spPr>
          <a:xfrm>
            <a:off x="8081725" y="1708165"/>
            <a:ext cx="3509211" cy="2520000"/>
          </a:xfrm>
          <a:prstGeom prst="rect">
            <a:avLst/>
          </a:prstGeom>
        </p:spPr>
      </p:pic>
      <p:sp>
        <p:nvSpPr>
          <p:cNvPr id="10" name="TextBox 9">
            <a:extLst>
              <a:ext uri="{FF2B5EF4-FFF2-40B4-BE49-F238E27FC236}">
                <a16:creationId xmlns:a16="http://schemas.microsoft.com/office/drawing/2014/main" id="{2A50770F-2EE3-4A7E-8E90-BDB62F135E43}"/>
              </a:ext>
            </a:extLst>
          </p:cNvPr>
          <p:cNvSpPr txBox="1"/>
          <p:nvPr/>
        </p:nvSpPr>
        <p:spPr>
          <a:xfrm>
            <a:off x="1371600" y="4381500"/>
            <a:ext cx="1440180" cy="369332"/>
          </a:xfrm>
          <a:prstGeom prst="rect">
            <a:avLst/>
          </a:prstGeom>
          <a:noFill/>
        </p:spPr>
        <p:txBody>
          <a:bodyPr wrap="square" rtlCol="0">
            <a:spAutoFit/>
          </a:bodyPr>
          <a:lstStyle/>
          <a:p>
            <a:r>
              <a:rPr lang="en-US" altLang="zh-CN"/>
              <a:t>AccZ = 1g</a:t>
            </a:r>
            <a:endParaRPr lang="zh-CN" altLang="en-US"/>
          </a:p>
        </p:txBody>
      </p:sp>
      <p:sp>
        <p:nvSpPr>
          <p:cNvPr id="11" name="TextBox 10">
            <a:extLst>
              <a:ext uri="{FF2B5EF4-FFF2-40B4-BE49-F238E27FC236}">
                <a16:creationId xmlns:a16="http://schemas.microsoft.com/office/drawing/2014/main" id="{FFD47E85-3D81-4E30-8657-F9440A234973}"/>
              </a:ext>
            </a:extLst>
          </p:cNvPr>
          <p:cNvSpPr txBox="1"/>
          <p:nvPr/>
        </p:nvSpPr>
        <p:spPr>
          <a:xfrm>
            <a:off x="5235793" y="4381500"/>
            <a:ext cx="1440180" cy="369332"/>
          </a:xfrm>
          <a:prstGeom prst="rect">
            <a:avLst/>
          </a:prstGeom>
          <a:noFill/>
        </p:spPr>
        <p:txBody>
          <a:bodyPr wrap="square" rtlCol="0">
            <a:spAutoFit/>
          </a:bodyPr>
          <a:lstStyle/>
          <a:p>
            <a:r>
              <a:rPr lang="en-US" altLang="zh-CN"/>
              <a:t>AccY = 1g</a:t>
            </a:r>
            <a:endParaRPr lang="zh-CN" altLang="en-US"/>
          </a:p>
        </p:txBody>
      </p:sp>
      <p:sp>
        <p:nvSpPr>
          <p:cNvPr id="12" name="TextBox 11">
            <a:extLst>
              <a:ext uri="{FF2B5EF4-FFF2-40B4-BE49-F238E27FC236}">
                <a16:creationId xmlns:a16="http://schemas.microsoft.com/office/drawing/2014/main" id="{ED40C996-D105-4F16-ADEB-09691CF21B65}"/>
              </a:ext>
            </a:extLst>
          </p:cNvPr>
          <p:cNvSpPr txBox="1"/>
          <p:nvPr/>
        </p:nvSpPr>
        <p:spPr>
          <a:xfrm>
            <a:off x="9433560" y="4381500"/>
            <a:ext cx="1440180" cy="369332"/>
          </a:xfrm>
          <a:prstGeom prst="rect">
            <a:avLst/>
          </a:prstGeom>
          <a:noFill/>
        </p:spPr>
        <p:txBody>
          <a:bodyPr wrap="square" rtlCol="0">
            <a:spAutoFit/>
          </a:bodyPr>
          <a:lstStyle/>
          <a:p>
            <a:r>
              <a:rPr lang="en-US" altLang="zh-CN"/>
              <a:t>Accx = -1g</a:t>
            </a:r>
            <a:endParaRPr lang="zh-CN" altLang="en-US"/>
          </a:p>
        </p:txBody>
      </p:sp>
      <p:pic>
        <p:nvPicPr>
          <p:cNvPr id="14" name="Picture 13">
            <a:extLst>
              <a:ext uri="{FF2B5EF4-FFF2-40B4-BE49-F238E27FC236}">
                <a16:creationId xmlns:a16="http://schemas.microsoft.com/office/drawing/2014/main" id="{C357151B-8770-4E8D-A0C4-5D741D082C42}"/>
              </a:ext>
            </a:extLst>
          </p:cNvPr>
          <p:cNvPicPr>
            <a:picLocks noChangeAspect="1"/>
          </p:cNvPicPr>
          <p:nvPr/>
        </p:nvPicPr>
        <p:blipFill rotWithShape="1">
          <a:blip r:embed="rId5">
            <a:extLst>
              <a:ext uri="{28A0092B-C50C-407E-A947-70E740481C1C}">
                <a14:useLocalDpi xmlns:a14="http://schemas.microsoft.com/office/drawing/2010/main" val="0"/>
              </a:ext>
            </a:extLst>
          </a:blip>
          <a:srcRect t="48445"/>
          <a:stretch/>
        </p:blipFill>
        <p:spPr>
          <a:xfrm>
            <a:off x="8657706" y="4781413"/>
            <a:ext cx="2618534" cy="1800000"/>
          </a:xfrm>
          <a:prstGeom prst="rect">
            <a:avLst/>
          </a:prstGeom>
        </p:spPr>
      </p:pic>
      <p:pic>
        <p:nvPicPr>
          <p:cNvPr id="16" name="Picture 15">
            <a:extLst>
              <a:ext uri="{FF2B5EF4-FFF2-40B4-BE49-F238E27FC236}">
                <a16:creationId xmlns:a16="http://schemas.microsoft.com/office/drawing/2014/main" id="{77DB746A-2401-4853-B771-8335D8962811}"/>
              </a:ext>
            </a:extLst>
          </p:cNvPr>
          <p:cNvPicPr>
            <a:picLocks noChangeAspect="1"/>
          </p:cNvPicPr>
          <p:nvPr/>
        </p:nvPicPr>
        <p:blipFill rotWithShape="1">
          <a:blip r:embed="rId6">
            <a:extLst>
              <a:ext uri="{28A0092B-C50C-407E-A947-70E740481C1C}">
                <a14:useLocalDpi xmlns:a14="http://schemas.microsoft.com/office/drawing/2010/main" val="0"/>
              </a:ext>
            </a:extLst>
          </a:blip>
          <a:srcRect t="45333"/>
          <a:stretch/>
        </p:blipFill>
        <p:spPr>
          <a:xfrm>
            <a:off x="4721127" y="4779541"/>
            <a:ext cx="2469512" cy="1800000"/>
          </a:xfrm>
          <a:prstGeom prst="rect">
            <a:avLst/>
          </a:prstGeom>
        </p:spPr>
      </p:pic>
      <p:pic>
        <p:nvPicPr>
          <p:cNvPr id="18" name="Picture 17">
            <a:extLst>
              <a:ext uri="{FF2B5EF4-FFF2-40B4-BE49-F238E27FC236}">
                <a16:creationId xmlns:a16="http://schemas.microsoft.com/office/drawing/2014/main" id="{538142FD-224E-4D95-B273-B7D40A70E618}"/>
              </a:ext>
            </a:extLst>
          </p:cNvPr>
          <p:cNvPicPr>
            <a:picLocks noChangeAspect="1"/>
          </p:cNvPicPr>
          <p:nvPr/>
        </p:nvPicPr>
        <p:blipFill rotWithShape="1">
          <a:blip r:embed="rId7">
            <a:extLst>
              <a:ext uri="{28A0092B-C50C-407E-A947-70E740481C1C}">
                <a14:useLocalDpi xmlns:a14="http://schemas.microsoft.com/office/drawing/2010/main" val="0"/>
              </a:ext>
            </a:extLst>
          </a:blip>
          <a:srcRect t="52296"/>
          <a:stretch/>
        </p:blipFill>
        <p:spPr>
          <a:xfrm>
            <a:off x="424091" y="4779541"/>
            <a:ext cx="2829969" cy="1800000"/>
          </a:xfrm>
          <a:prstGeom prst="rect">
            <a:avLst/>
          </a:prstGeom>
        </p:spPr>
      </p:pic>
    </p:spTree>
    <p:extLst>
      <p:ext uri="{BB962C8B-B14F-4D97-AF65-F5344CB8AC3E}">
        <p14:creationId xmlns:p14="http://schemas.microsoft.com/office/powerpoint/2010/main" val="584694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67EE-38DC-4789-A8C8-54643A567D6A}"/>
              </a:ext>
            </a:extLst>
          </p:cNvPr>
          <p:cNvSpPr>
            <a:spLocks noGrp="1"/>
          </p:cNvSpPr>
          <p:nvPr>
            <p:ph type="title"/>
          </p:nvPr>
        </p:nvSpPr>
        <p:spPr/>
        <p:txBody>
          <a:bodyPr/>
          <a:lstStyle/>
          <a:p>
            <a:r>
              <a:rPr lang="en-US" altLang="zh-CN"/>
              <a:t>3.2. Test sensor</a:t>
            </a:r>
            <a:endParaRPr lang="zh-CN" altLang="en-US"/>
          </a:p>
        </p:txBody>
      </p:sp>
      <p:pic>
        <p:nvPicPr>
          <p:cNvPr id="4" name="Content Placeholder 3">
            <a:extLst>
              <a:ext uri="{FF2B5EF4-FFF2-40B4-BE49-F238E27FC236}">
                <a16:creationId xmlns:a16="http://schemas.microsoft.com/office/drawing/2014/main" id="{F99D1F14-7387-4CC1-AE5B-56F670C9F8CD}"/>
              </a:ext>
            </a:extLst>
          </p:cNvPr>
          <p:cNvPicPr>
            <a:picLocks noGrp="1" noChangeAspect="1"/>
          </p:cNvPicPr>
          <p:nvPr>
            <p:ph idx="1"/>
          </p:nvPr>
        </p:nvPicPr>
        <p:blipFill>
          <a:blip r:embed="rId2"/>
          <a:stretch>
            <a:fillRect/>
          </a:stretch>
        </p:blipFill>
        <p:spPr>
          <a:xfrm>
            <a:off x="3113977" y="1491931"/>
            <a:ext cx="6121463" cy="3646263"/>
          </a:xfrm>
          <a:prstGeom prst="rect">
            <a:avLst/>
          </a:prstGeom>
        </p:spPr>
      </p:pic>
      <p:sp>
        <p:nvSpPr>
          <p:cNvPr id="7" name="TextBox 6">
            <a:extLst>
              <a:ext uri="{FF2B5EF4-FFF2-40B4-BE49-F238E27FC236}">
                <a16:creationId xmlns:a16="http://schemas.microsoft.com/office/drawing/2014/main" id="{CECF3F93-6E67-4AF9-95A8-16D47891445B}"/>
              </a:ext>
            </a:extLst>
          </p:cNvPr>
          <p:cNvSpPr txBox="1"/>
          <p:nvPr/>
        </p:nvSpPr>
        <p:spPr>
          <a:xfrm>
            <a:off x="2898108" y="5357498"/>
            <a:ext cx="6553200" cy="646331"/>
          </a:xfrm>
          <a:prstGeom prst="rect">
            <a:avLst/>
          </a:prstGeom>
          <a:noFill/>
        </p:spPr>
        <p:txBody>
          <a:bodyPr wrap="square">
            <a:spAutoFit/>
          </a:bodyPr>
          <a:lstStyle/>
          <a:p>
            <a:r>
              <a:rPr lang="en-US" altLang="zh-CN"/>
              <a:t>Acceleration (g) of the pronation-supination movements of the right hand (PSMR) (Gia tốc khi quay cổ tay trái)</a:t>
            </a:r>
            <a:endParaRPr lang="zh-CN" altLang="en-US"/>
          </a:p>
        </p:txBody>
      </p:sp>
    </p:spTree>
    <p:extLst>
      <p:ext uri="{BB962C8B-B14F-4D97-AF65-F5344CB8AC3E}">
        <p14:creationId xmlns:p14="http://schemas.microsoft.com/office/powerpoint/2010/main" val="3231516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67EE-38DC-4789-A8C8-54643A567D6A}"/>
              </a:ext>
            </a:extLst>
          </p:cNvPr>
          <p:cNvSpPr>
            <a:spLocks noGrp="1"/>
          </p:cNvSpPr>
          <p:nvPr>
            <p:ph type="title"/>
          </p:nvPr>
        </p:nvSpPr>
        <p:spPr/>
        <p:txBody>
          <a:bodyPr/>
          <a:lstStyle/>
          <a:p>
            <a:r>
              <a:rPr lang="en-US" altLang="zh-CN"/>
              <a:t>3.2. Test sensor</a:t>
            </a:r>
            <a:endParaRPr lang="zh-CN" altLang="en-US"/>
          </a:p>
        </p:txBody>
      </p:sp>
      <p:pic>
        <p:nvPicPr>
          <p:cNvPr id="6" name="Picture 5">
            <a:extLst>
              <a:ext uri="{FF2B5EF4-FFF2-40B4-BE49-F238E27FC236}">
                <a16:creationId xmlns:a16="http://schemas.microsoft.com/office/drawing/2014/main" id="{F0E8E158-DEFB-4E54-B4DC-CE904EFD3EEB}"/>
              </a:ext>
            </a:extLst>
          </p:cNvPr>
          <p:cNvPicPr>
            <a:picLocks noChangeAspect="1"/>
          </p:cNvPicPr>
          <p:nvPr/>
        </p:nvPicPr>
        <p:blipFill>
          <a:blip r:embed="rId2"/>
          <a:stretch>
            <a:fillRect/>
          </a:stretch>
        </p:blipFill>
        <p:spPr>
          <a:xfrm>
            <a:off x="2150769" y="1485216"/>
            <a:ext cx="6800191" cy="4072724"/>
          </a:xfrm>
          <a:prstGeom prst="rect">
            <a:avLst/>
          </a:prstGeom>
        </p:spPr>
      </p:pic>
      <p:sp>
        <p:nvSpPr>
          <p:cNvPr id="8" name="TextBox 7">
            <a:extLst>
              <a:ext uri="{FF2B5EF4-FFF2-40B4-BE49-F238E27FC236}">
                <a16:creationId xmlns:a16="http://schemas.microsoft.com/office/drawing/2014/main" id="{BC68C0DE-DCC6-401A-A5A6-3DCDA984C277}"/>
              </a:ext>
            </a:extLst>
          </p:cNvPr>
          <p:cNvSpPr txBox="1"/>
          <p:nvPr/>
        </p:nvSpPr>
        <p:spPr>
          <a:xfrm>
            <a:off x="2664428" y="5652138"/>
            <a:ext cx="6553200" cy="923330"/>
          </a:xfrm>
          <a:prstGeom prst="rect">
            <a:avLst/>
          </a:prstGeom>
          <a:noFill/>
        </p:spPr>
        <p:txBody>
          <a:bodyPr wrap="square">
            <a:spAutoFit/>
          </a:bodyPr>
          <a:lstStyle/>
          <a:p>
            <a:r>
              <a:rPr lang="en-US" altLang="zh-CN"/>
              <a:t>Angular velocity (degree/s) of the pronation-supination movements of the right hand (PSMR) (Vận tóc góc khi quay cổ tay trái)</a:t>
            </a:r>
            <a:endParaRPr lang="zh-CN" altLang="en-US"/>
          </a:p>
        </p:txBody>
      </p:sp>
    </p:spTree>
    <p:extLst>
      <p:ext uri="{BB962C8B-B14F-4D97-AF65-F5344CB8AC3E}">
        <p14:creationId xmlns:p14="http://schemas.microsoft.com/office/powerpoint/2010/main" val="1692108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2528-75F7-42C1-BEED-DACC79FF4E40}"/>
              </a:ext>
            </a:extLst>
          </p:cNvPr>
          <p:cNvSpPr>
            <a:spLocks noGrp="1"/>
          </p:cNvSpPr>
          <p:nvPr>
            <p:ph type="title"/>
          </p:nvPr>
        </p:nvSpPr>
        <p:spPr/>
        <p:txBody>
          <a:bodyPr/>
          <a:lstStyle/>
          <a:p>
            <a:r>
              <a:rPr lang="en-US" altLang="zh-CN"/>
              <a:t>3.3. Conclusion</a:t>
            </a:r>
            <a:endParaRPr lang="zh-CN" altLang="en-US"/>
          </a:p>
        </p:txBody>
      </p:sp>
      <p:sp>
        <p:nvSpPr>
          <p:cNvPr id="3" name="Content Placeholder 2">
            <a:extLst>
              <a:ext uri="{FF2B5EF4-FFF2-40B4-BE49-F238E27FC236}">
                <a16:creationId xmlns:a16="http://schemas.microsoft.com/office/drawing/2014/main" id="{343379A4-5D41-4FCF-9B34-65A0C659AB51}"/>
              </a:ext>
            </a:extLst>
          </p:cNvPr>
          <p:cNvSpPr>
            <a:spLocks noGrp="1"/>
          </p:cNvSpPr>
          <p:nvPr>
            <p:ph idx="1"/>
          </p:nvPr>
        </p:nvSpPr>
        <p:spPr/>
        <p:txBody>
          <a:bodyPr/>
          <a:lstStyle/>
          <a:p>
            <a:r>
              <a:rPr lang="en-US" altLang="zh-CN"/>
              <a:t>It is feasible to use mpu6050 to read acceleration, velocity and rotation angle.</a:t>
            </a:r>
            <a:endParaRPr lang="zh-CN" altLang="en-US"/>
          </a:p>
        </p:txBody>
      </p:sp>
    </p:spTree>
    <p:extLst>
      <p:ext uri="{BB962C8B-B14F-4D97-AF65-F5344CB8AC3E}">
        <p14:creationId xmlns:p14="http://schemas.microsoft.com/office/powerpoint/2010/main" val="1683802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512</Words>
  <Application>Microsoft Office PowerPoint</Application>
  <PresentationFormat>Widescreen</PresentationFormat>
  <Paragraphs>45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等线</vt:lpstr>
      <vt:lpstr>等线 Light</vt:lpstr>
      <vt:lpstr>Arial</vt:lpstr>
      <vt:lpstr>Office Theme</vt:lpstr>
      <vt:lpstr>1. Send data to cloud</vt:lpstr>
      <vt:lpstr>1.1. Create channel</vt:lpstr>
      <vt:lpstr>1.2. APIS KEY</vt:lpstr>
      <vt:lpstr>1.3. Interface to observe data</vt:lpstr>
      <vt:lpstr>1.4. Limition time collect data</vt:lpstr>
      <vt:lpstr>1.4. Limition time collect data</vt:lpstr>
      <vt:lpstr>1.4. Limition time collect data</vt:lpstr>
      <vt:lpstr>2. Module Wifi ESP8266 UART ESP-01S Ai-Thinker </vt:lpstr>
      <vt:lpstr>2.1. Hardware</vt:lpstr>
      <vt:lpstr>2.2. Configuration </vt:lpstr>
      <vt:lpstr>3. Collect data from MPU6050</vt:lpstr>
      <vt:lpstr>3.1. Acceleration</vt:lpstr>
      <vt:lpstr>3.2. Test sensor</vt:lpstr>
      <vt:lpstr>3.2. Test sensor</vt:lpstr>
      <vt:lpstr>3.3.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Send data to cloud</dc:title>
  <dc:creator>Chu Thanh Tùng</dc:creator>
  <cp:lastModifiedBy>Chu Thanh Tùng</cp:lastModifiedBy>
  <cp:revision>17</cp:revision>
  <dcterms:created xsi:type="dcterms:W3CDTF">2025-01-02T08:56:34Z</dcterms:created>
  <dcterms:modified xsi:type="dcterms:W3CDTF">2025-01-02T11:58:43Z</dcterms:modified>
</cp:coreProperties>
</file>